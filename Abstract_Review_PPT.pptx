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team, then state the title in one plain sentence: 'We are building a system that detects when an AI is about to give a wrong answer, by reading the model's internal signals.' Then say you already have working results - that changes how the panel listens.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The panel knows what an LLM is. Spend your words on the last line: the model gives no signal about its own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boxed statement aloud, slowly. That is the sentence the panel will judge you on. Then give one line per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 is the core of the project. Objectives 1 and 3 are already achieved - say so, it shows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top diagram left to right in one sentence. The key point: the probe reads numbers the model ALREADY computed, so detection is effectively free. Steps 3 and 4 are where the novelty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Justification if asked: everything is free and open source. The whole project runs on Colab's free tier because activations are extracted once and cached - all later analysis runs on CPU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your advantage - most teams present only a plan. Be honest if pressed: the gap over log-probability is not yet statistically significant on 592 test samples, which is why we are scaling to 8,000. Volunteering that shows rigour.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these as deliverables, not hopes. Point out that the first three are already partly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two that match your college's focus and expand on those. Do not read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these out. Just say the work builds on established probing research and that the repository is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1" i="0">
                <a:solidFill>
                  <a:srgbClr val="9DBAD6"/>
                </a:solidFill>
                <a:latin typeface="Calibri"/>
              </a:rPr>
              <a:t>MAJOR PROJECT  |  ABSTRACT REVIEW</a:t>
            </a:r>
          </a:p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Real-Time Hallucination Detection in Large Language Models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Using Internal Representation Probing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TEAM MEMBERS</a:t>
            </a:r>
          </a:p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62707E"/>
                </a:solidFill>
                <a:latin typeface="Calibri"/>
              </a:rPr>
              <a:t>B210897        J. Raghuram</a:t>
            </a:r>
          </a:p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62707E"/>
                </a:solidFill>
                <a:latin typeface="Calibri"/>
              </a:rPr>
              <a:t>B211140        Md. Aqif Arif</a:t>
            </a:r>
          </a:p>
          <a:p>
            <a:pPr algn="l">
              <a:spcAft>
                <a:spcPts val="1500"/>
              </a:spcAft>
            </a:pPr>
            <a:r>
              <a:rPr sz="1800" b="0" i="0">
                <a:solidFill>
                  <a:srgbClr val="62707E"/>
                </a:solidFill>
                <a:latin typeface="Calibri"/>
              </a:rPr>
              <a:t>B201490        M. Revanth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69748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PROJECT GUIDE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Dr. G. Sagar</a:t>
            </a:r>
          </a:p>
          <a:p>
            <a:pPr algn="l">
              <a:spcAft>
                <a:spcPts val="3000"/>
              </a:spcAft>
            </a:pPr>
            <a:r>
              <a:rPr sz="1250" b="0" i="0">
                <a:solidFill>
                  <a:srgbClr val="62707E"/>
                </a:solidFill>
                <a:latin typeface="Calibri"/>
              </a:rPr>
              <a:t>Department of Computer Science &amp; Engineering</a:t>
            </a:r>
          </a:p>
          <a:p>
            <a:pPr algn="l">
              <a:spcAft>
                <a:spcPts val="16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HEAD OF THE DEPARTMENT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Dr. B. Venkataraman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989320"/>
            <a:ext cx="10637215" cy="2540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4476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07E"/>
                </a:solidFill>
                <a:latin typeface="Calibri"/>
              </a:rPr>
              <a:t>Department of Computer Science &amp; Engineering   |   Rajiv Gandhi University of Knowledge Technologies, Basar   |   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Introduction /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83080"/>
            <a:ext cx="118872" cy="118872"/>
          </a:xfrm>
          <a:prstGeom prst="ellipse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45920"/>
            <a:ext cx="103263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A1D21"/>
                </a:solidFill>
                <a:latin typeface="Calibri"/>
              </a:rPr>
              <a:t>Large Language Models are now everywhere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chatbots, search, coding assistants, customer support, healthcare tools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00960"/>
            <a:ext cx="118872" cy="118872"/>
          </a:xfrm>
          <a:prstGeom prst="ellipse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463800"/>
            <a:ext cx="103263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A1D21"/>
                </a:solidFill>
                <a:latin typeface="Calibri"/>
              </a:rPr>
              <a:t>They are trained to predict the next word — not to be correct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the model has no internal mechanism separating recall from invention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418840"/>
            <a:ext cx="118872" cy="118872"/>
          </a:xfrm>
          <a:prstGeom prst="ellipse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281680"/>
            <a:ext cx="103263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A1D21"/>
                </a:solidFill>
                <a:latin typeface="Calibri"/>
              </a:rPr>
              <a:t>So they produce fluent, confident, false statements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this failure mode is called hallucination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236720"/>
            <a:ext cx="118872" cy="118872"/>
          </a:xfrm>
          <a:prstGeom prst="ellipse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099560"/>
            <a:ext cx="103263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A1D21"/>
                </a:solidFill>
                <a:latin typeface="Calibri"/>
              </a:rPr>
              <a:t>A wrong answer looks exactly like a right one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same tone, same confidence, same fluency — the user cannot tell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57800"/>
            <a:ext cx="10637215" cy="86868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22392"/>
            <a:ext cx="100885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4355E"/>
                </a:solidFill>
                <a:latin typeface="Calibri"/>
              </a:rPr>
              <a:t>Hallucination is the single biggest barrier to using LLMs where accuracy matters.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10637215" cy="1417320"/>
          </a:xfrm>
          <a:prstGeom prst="rect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10512"/>
            <a:ext cx="98142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LLMs generate confidently incorrect answers with no reliable signal to identify them, and existing detection methods are too expensive for real-time or on-device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Why current approaches fall short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822191"/>
            <a:ext cx="10637215" cy="621792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91363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Sampling / self-consistency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931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Generate 10 answers, compare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913631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A4551B"/>
                </a:solidFill>
                <a:latin typeface="Calibri"/>
              </a:rPr>
              <a:t>10× compute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35424"/>
            <a:ext cx="10637215" cy="621792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6268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Retrieval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6451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Check every claim against a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62686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A4551B"/>
                </a:solidFill>
                <a:latin typeface="Calibri"/>
              </a:rPr>
              <a:t>needs a trusted corpus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248656"/>
            <a:ext cx="10637215" cy="621792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53400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Asking the model if it is 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35838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Self-reported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34009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A4551B"/>
                </a:solidFill>
                <a:latin typeface="Calibri"/>
              </a:rPr>
              <a:t>poorly calibrated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1E6B4A"/>
                </a:solidFill>
                <a:latin typeface="Calibri"/>
              </a:rPr>
              <a:t>All of them ignore the computation the model has already performed.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45920"/>
            <a:ext cx="420624" cy="420624"/>
          </a:xfrm>
          <a:prstGeom prst="ellipse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1591056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Investigate whether a model's hidden activations encode factual correctness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in small models under 4B parameters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32888"/>
            <a:ext cx="420624" cy="420624"/>
          </a:xfrm>
          <a:prstGeom prst="ellipse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478024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Develop a lightweight detector that needs no extra inference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a linear probe on activations the model already computed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419856"/>
            <a:ext cx="420624" cy="420624"/>
          </a:xfrm>
          <a:prstGeom prst="ellipse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3364992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Identify which layers carry the strongest signal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systematic layer-by-layer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251960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Benchmark against existing methods on quality and compute cost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token probability, self-consistency, semantic entropy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193792"/>
            <a:ext cx="420624" cy="420624"/>
          </a:xfrm>
          <a:prstGeom prst="ellipse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5138928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Build a working abstention system and demonstration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07E"/>
                </a:solidFill>
                <a:latin typeface="Calibri"/>
              </a:rPr>
              <a:t>the model says “I am not sure” instead of guessing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62707E"/>
                </a:solidFill>
                <a:latin typeface="Calibri"/>
              </a:rPr>
              <a:t>Read the model's internal state, not just its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783080" cy="1051560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A1D21"/>
                </a:solidFill>
                <a:latin typeface="Calibri"/>
              </a:rPr>
              <a:t>Input</a:t>
            </a:r>
            <a:br/>
            <a:r>
              <a:rPr sz="1400" b="1">
                <a:solidFill>
                  <a:srgbClr val="1A1D21"/>
                </a:solidFill>
                <a:latin typeface="Calibri"/>
              </a:rPr>
              <a:t>Question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15183" y="2487168"/>
            <a:ext cx="274320" cy="384048"/>
          </a:xfrm>
          <a:prstGeom prst="rightArrow">
            <a:avLst/>
          </a:prstGeom>
          <a:solidFill>
            <a:srgbClr val="B6C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4368" y="2148840"/>
            <a:ext cx="1783080" cy="1051560"/>
          </a:xfrm>
          <a:prstGeom prst="roundRect">
            <a:avLst/>
          </a:prstGeom>
          <a:solidFill>
            <a:srgbClr val="14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Language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82311" y="2487168"/>
            <a:ext cx="274320" cy="384048"/>
          </a:xfrm>
          <a:prstGeom prst="rightArrow">
            <a:avLst/>
          </a:prstGeom>
          <a:solidFill>
            <a:srgbClr val="B6C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11496" y="2148840"/>
            <a:ext cx="1783080" cy="1051560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A1D21"/>
                </a:solidFill>
                <a:latin typeface="Calibri"/>
              </a:rPr>
              <a:t>Hidden</a:t>
            </a:r>
            <a:br/>
            <a:r>
              <a:rPr sz="1400" b="1">
                <a:solidFill>
                  <a:srgbClr val="1A1D21"/>
                </a:solidFill>
                <a:latin typeface="Calibri"/>
              </a:rPr>
              <a:t>Activations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49439" y="2487168"/>
            <a:ext cx="274320" cy="384048"/>
          </a:xfrm>
          <a:prstGeom prst="rightArrow">
            <a:avLst/>
          </a:prstGeom>
          <a:solidFill>
            <a:srgbClr val="B6C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4" y="2148840"/>
            <a:ext cx="1783080" cy="1051560"/>
          </a:xfrm>
          <a:prstGeom prst="roundRect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Linear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Probe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16567" y="2487168"/>
            <a:ext cx="274320" cy="384048"/>
          </a:xfrm>
          <a:prstGeom prst="rightArrow">
            <a:avLst/>
          </a:prstGeom>
          <a:solidFill>
            <a:srgbClr val="B6C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45752" y="2148840"/>
            <a:ext cx="1783080" cy="1051560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A1D21"/>
                </a:solidFill>
                <a:latin typeface="Calibri"/>
              </a:rPr>
              <a:t>Risk</a:t>
            </a:r>
            <a:br/>
            <a:r>
              <a:rPr sz="1400" b="1">
                <a:solidFill>
                  <a:srgbClr val="1A1D21"/>
                </a:solidFill>
                <a:latin typeface="Calibri"/>
              </a:rPr>
              <a:t>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611880"/>
            <a:ext cx="2194560" cy="566928"/>
          </a:xfrm>
          <a:prstGeom prst="roundRect">
            <a:avLst/>
          </a:prstGeom>
          <a:solidFill>
            <a:srgbClr val="A45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  or  Abstain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287000" y="3246120"/>
            <a:ext cx="457200" cy="329184"/>
          </a:xfrm>
          <a:prstGeom prst="downArrow">
            <a:avLst/>
          </a:prstGeom>
          <a:solidFill>
            <a:srgbClr val="B6C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526280"/>
            <a:ext cx="2029968" cy="13716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46177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355E"/>
                </a:solidFill>
                <a:latin typeface="Calibri"/>
              </a:rPr>
              <a:t>1.  Ask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07E"/>
                </a:solidFill>
                <a:latin typeface="Calibri"/>
              </a:rPr>
              <a:t>Model answers questions from a factual QA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8648" y="4526280"/>
            <a:ext cx="2029968" cy="13716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6664" y="46177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355E"/>
                </a:solidFill>
                <a:latin typeface="Calibri"/>
              </a:rPr>
              <a:t>2.  Grade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07E"/>
                </a:solidFill>
                <a:latin typeface="Calibri"/>
              </a:rPr>
              <a:t>Compare each answer with the correct 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0056" y="4526280"/>
            <a:ext cx="2029968" cy="13716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46177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355E"/>
                </a:solidFill>
                <a:latin typeface="Calibri"/>
              </a:rPr>
              <a:t>3.  Capture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07E"/>
                </a:solidFill>
                <a:latin typeface="Calibri"/>
              </a:rPr>
              <a:t>Record hidden activations from every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1464" y="4526280"/>
            <a:ext cx="2029968" cy="13716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6177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355E"/>
                </a:solidFill>
                <a:latin typeface="Calibri"/>
              </a:rPr>
              <a:t>4.  Train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07E"/>
                </a:solidFill>
                <a:latin typeface="Calibri"/>
              </a:rPr>
              <a:t>Fit a logistic regression on those activations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62872" y="4526280"/>
            <a:ext cx="2029968" cy="13716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46177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355E"/>
                </a:solidFill>
                <a:latin typeface="Calibri"/>
              </a:rPr>
              <a:t>5.  Decide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07E"/>
                </a:solidFill>
                <a:latin typeface="Calibri"/>
              </a:rPr>
              <a:t>High risk → abstain instead of answering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Technologies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3401568" cy="20574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LANGUAGE &amp; CORE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Python 3.11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PyTorch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NumPy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91640"/>
            <a:ext cx="3401568" cy="20574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MODELS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Qwen2.5 1.5B / 3B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Llama-3.2 1B / 3B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Gemma-2 2B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691640"/>
            <a:ext cx="3401568" cy="20574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74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ML LIBRARIES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HuggingFace Transformers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scikit-learn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bitsandbytes (4-bit)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77639"/>
            <a:ext cx="3401568" cy="20574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DATASETS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TriviaQA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HaluEval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HotpotQA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977639"/>
            <a:ext cx="3401568" cy="20574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60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INTERFACE &amp; TOOLS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Gradio (demo)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Matplotlib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Git / 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3977639"/>
            <a:ext cx="3401568" cy="205740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00" b="1" i="0">
                <a:solidFill>
                  <a:srgbClr val="2E6B9E"/>
                </a:solidFill>
                <a:latin typeface="Calibri"/>
              </a:rPr>
              <a:t>HARDWARE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Google Colab — T4 GPU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15 GB VRAM, free tier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No paid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Preliminary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62707E"/>
                </a:solidFill>
                <a:latin typeface="Calibri"/>
              </a:rPr>
              <a:t>Pipeline implemented and tested — Qwen2.5-1.5B, 2,000 TriviaQA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2606040" cy="146304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0.819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Detection accuracy</a:t>
            </a:r>
            <a:br/>
            <a:r>
              <a:rPr sz="1100" b="0" i="0">
                <a:solidFill>
                  <a:srgbClr val="62707E"/>
                </a:solidFill>
                <a:latin typeface="Calibri"/>
              </a:rPr>
              <a:t>(AUROC)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7872" y="2057400"/>
            <a:ext cx="2606040" cy="146304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1945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Layer 20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of 28 — peak signal</a:t>
            </a:r>
            <a:br/>
            <a:r>
              <a:rPr sz="1100" b="0" i="0">
                <a:solidFill>
                  <a:srgbClr val="62707E"/>
                </a:solidFill>
                <a:latin typeface="Calibri"/>
              </a:rPr>
              <a:t>at 71% depth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8504" y="2057400"/>
            <a:ext cx="2606040" cy="146304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1945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6B4A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forward pass</a:t>
            </a:r>
            <a:br/>
            <a:r>
              <a:rPr sz="1100" b="0" i="0">
                <a:solidFill>
                  <a:srgbClr val="62707E"/>
                </a:solidFill>
                <a:latin typeface="Calibri"/>
              </a:rPr>
              <a:t>(vs 11 for sampling)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9136" y="2057400"/>
            <a:ext cx="2606040" cy="146304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1945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6B4A"/>
                </a:solidFill>
                <a:latin typeface="Calibri"/>
              </a:rPr>
              <a:t>+6.5%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accuracy gain</a:t>
            </a:r>
            <a:br/>
            <a:r>
              <a:rPr sz="1100" b="0" i="0">
                <a:solidFill>
                  <a:srgbClr val="62707E"/>
                </a:solidFill>
                <a:latin typeface="Calibri"/>
              </a:rPr>
              <a:t>when abstaining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355E"/>
                </a:solidFill>
                <a:latin typeface="Calibri"/>
              </a:rPr>
              <a:t>Comparison with existing methods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15968"/>
            <a:ext cx="10637215" cy="54864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165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Token log-probability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16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0.771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4165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1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956048"/>
            <a:ext cx="10637215" cy="54864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566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Self-consistency (10 samples)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0566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0.758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0566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11 passes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596128"/>
            <a:ext cx="10637215" cy="54864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967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D21"/>
                </a:solidFill>
                <a:latin typeface="Calibri"/>
              </a:rPr>
              <a:t>Our method — internal probe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6967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6B4A"/>
                </a:solidFill>
                <a:latin typeface="Calibri"/>
              </a:rPr>
              <a:t>0.819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56967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1A1D21"/>
                </a:solidFill>
                <a:latin typeface="Calibri"/>
              </a:rPr>
              <a:t>1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8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82496"/>
            <a:ext cx="292608" cy="292608"/>
          </a:xfrm>
          <a:prstGeom prst="ellipse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591056"/>
            <a:ext cx="100885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A working hallucination detection module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2707E"/>
                </a:solidFill>
                <a:latin typeface="Calibri"/>
              </a:rPr>
              <a:t>open-source, reusable with any local language model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32304"/>
            <a:ext cx="292608" cy="292608"/>
          </a:xfrm>
          <a:prstGeom prst="ellipse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340864"/>
            <a:ext cx="100885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Validated across multiple models and datasets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2707E"/>
                </a:solidFill>
                <a:latin typeface="Calibri"/>
              </a:rPr>
              <a:t>4–5 model families, 3 benchmark datasets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82112"/>
            <a:ext cx="292608" cy="292608"/>
          </a:xfrm>
          <a:prstGeom prst="ellipse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090672"/>
            <a:ext cx="100885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A layer-wise map of where truthfulness is encoded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2707E"/>
                </a:solidFill>
                <a:latin typeface="Calibri"/>
              </a:rPr>
              <a:t>guidance for anyone building similar detectors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31920"/>
            <a:ext cx="292608" cy="292608"/>
          </a:xfrm>
          <a:prstGeom prst="ellipse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840480"/>
            <a:ext cx="100885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Cross-model transfer study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2707E"/>
                </a:solidFill>
                <a:latin typeface="Calibri"/>
              </a:rPr>
              <a:t>does a probe trained on one model work on another?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81728"/>
            <a:ext cx="292608" cy="292608"/>
          </a:xfrm>
          <a:prstGeom prst="ellipse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590288"/>
            <a:ext cx="100885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Interactive demo with live confidence display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2707E"/>
                </a:solidFill>
                <a:latin typeface="Calibri"/>
              </a:rPr>
              <a:t>shows risk before the user trusts the answer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431536"/>
            <a:ext cx="292608" cy="292608"/>
          </a:xfrm>
          <a:prstGeom prst="ellipse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5340096"/>
            <a:ext cx="100885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Technical report and possible publication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2707E"/>
                </a:solidFill>
                <a:latin typeface="Calibri"/>
              </a:rPr>
              <a:t>targeting an IEEE / Scopus-indexed conference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Applications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3401568" cy="196596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928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Healthcare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07E"/>
                </a:solidFill>
                <a:latin typeface="Calibri"/>
              </a:rPr>
              <a:t>Clinical assistants that flag uncertain answers instead of stating them as fact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91640"/>
            <a:ext cx="3401568" cy="196596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928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Legal &amp; Financial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07E"/>
                </a:solidFill>
                <a:latin typeface="Calibri"/>
              </a:rPr>
              <a:t>Document analysis where a fabricated citation or figure carries real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691640"/>
            <a:ext cx="3401568" cy="196596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928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Education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07E"/>
                </a:solidFill>
                <a:latin typeface="Calibri"/>
              </a:rPr>
              <a:t>Tutoring systems that admit uncertainty rather than teaching something false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3401568" cy="196596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33087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Edge &amp; On-Device AI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07E"/>
                </a:solidFill>
                <a:latin typeface="Calibri"/>
              </a:rPr>
              <a:t>Small models on phones, where repeated sampling is not affordable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931920"/>
            <a:ext cx="3401568" cy="196596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33087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RAG Systems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07E"/>
                </a:solidFill>
                <a:latin typeface="Calibri"/>
              </a:rPr>
              <a:t>Decide when the model needs to look something up instead of answering directly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3931920"/>
            <a:ext cx="3401568" cy="196596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33087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4355E"/>
                </a:solidFill>
                <a:latin typeface="Calibri"/>
              </a:rPr>
              <a:t>Any LLM Deployment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07E"/>
                </a:solidFill>
                <a:latin typeface="Calibri"/>
              </a:rPr>
              <a:t>A general reliability layer — the method is model-agnostic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355E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005840" cy="4445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2707E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Azaria, A. &amp; Mitchell, T. (2023). The Internal State of an LLM Knows When It's Lying. Findings of EMNLP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57984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Burns, C. et al. (2023). Discovering Latent Knowledge in Language Models Without Supervision. ICLR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0048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70048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Li, K. et al. (2023). Inference-Time Intervention: Eliciting Truthful Answers from a Language Model. NeurIPS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82112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Marks, S. &amp; Tegmark, M. (2024). The Geometry of Truth: Emergent Linear Structure in LLM Representations. COLM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[5]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94176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Orgad, H. et al. (2025). LLMs Know More Than They Show: On the Intrinsic Representation of LLM Hallucinations. ICLR 2025.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Kossen, J. et al. (2024). Semantic Entropy Probes: Robust and Cheap Hallucination Detection in LLMs. arXiv:2406.15927.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8304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[7]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18304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Farquhar, S. et al. (2024). Detecting Hallucinations in Large Language Models Using Semantic Entropy. Nature, 630.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0368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6B9E"/>
                </a:solidFill>
                <a:latin typeface="Calibri"/>
              </a:rPr>
              <a:t>[8]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30368"/>
            <a:ext cx="101800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D21"/>
                </a:solidFill>
                <a:latin typeface="Calibri"/>
              </a:rPr>
              <a:t>Joshi, M. et al. (2017). TriviaQA: A Large Scale Distantly Supervised Challenge Dataset for Reading Comprehension. ACL 2017.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989320"/>
            <a:ext cx="10637215" cy="1905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144768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355E"/>
                </a:solidFill>
                <a:latin typeface="Calibri"/>
              </a:rPr>
              <a:t>Project repository:  github.com/Raghuramjella/hallucination-probe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